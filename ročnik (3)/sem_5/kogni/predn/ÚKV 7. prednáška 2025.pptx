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TWQWTP+Wingdings" panose="020B0604020202020204" charset="2"/>
      <p:regular r:id="rId20"/>
    </p:embeddedFont>
    <p:embeddedFont>
      <p:font typeface="BCLMDO+Arial" panose="020B0604020202020204" charset="0"/>
      <p:regular r:id="rId21"/>
    </p:embeddedFont>
    <p:embeddedFont>
      <p:font typeface="LDMVBA+Calibri" panose="020B0604020202020204" charset="0"/>
      <p:regular r:id="rId22"/>
    </p:embeddedFont>
    <p:embeddedFont>
      <p:font typeface="DUUQJP+Trebuchet MS" panose="020B0604020202020204" charset="0"/>
      <p:regular r:id="rId23"/>
    </p:embeddedFont>
    <p:embeddedFont>
      <p:font typeface="FKFMBO+Trebuchet MS Bold" panose="020B0604020202020204" charset="0"/>
      <p:regular r:id="rId24"/>
    </p:embeddedFont>
    <p:embeddedFont>
      <p:font typeface="Times New Roman" panose="02020603050405020304" pitchFamily="18" charset="0"/>
      <p:regular r:id="rId25"/>
    </p:embeddedFont>
    <p:embeddedFont>
      <p:font typeface="KNGTWS+Calibri" panose="020B0604020202020204" charset="0"/>
      <p:regular r:id="rId26"/>
    </p:embeddedFont>
    <p:embeddedFont>
      <p:font typeface="PUUJIP+Trebuchet MS" panose="020B0604020202020204" charset="0"/>
      <p:regular r:id="rId27"/>
    </p:embeddedFont>
  </p:embeddedFontLst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>
      <p:cViewPr varScale="1">
        <p:scale>
          <a:sx n="87" d="100"/>
          <a:sy n="87" d="100"/>
        </p:scale>
        <p:origin x="533" y="5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3538" y="3468671"/>
            <a:ext cx="7702060" cy="629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56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DUUQJP+Trebuchet MS"/>
                <a:cs typeface="DUUQJP+Trebuchet MS"/>
              </a:rPr>
              <a:t>Filozofia</a:t>
            </a:r>
            <a:r>
              <a:rPr sz="4000" spc="-69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4000" dirty="0">
                <a:solidFill>
                  <a:srgbClr val="FFFFFF"/>
                </a:solidFill>
                <a:latin typeface="DUUQJP+Trebuchet MS"/>
                <a:cs typeface="DUUQJP+Trebuchet MS"/>
              </a:rPr>
              <a:t>mysle</a:t>
            </a:r>
            <a:r>
              <a:rPr sz="4000" spc="-17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4000" dirty="0">
                <a:solidFill>
                  <a:srgbClr val="FFFFFF"/>
                </a:solidFill>
                <a:latin typeface="PUUJIP+Trebuchet MS"/>
                <a:cs typeface="PUUJIP+Trebuchet MS"/>
              </a:rPr>
              <a:t>a kognitívne</a:t>
            </a:r>
            <a:r>
              <a:rPr sz="4000" spc="-54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4000" dirty="0">
                <a:solidFill>
                  <a:srgbClr val="FFFFFF"/>
                </a:solidFill>
                <a:latin typeface="DUUQJP+Trebuchet MS"/>
                <a:cs typeface="DUUQJP+Trebuchet MS"/>
              </a:rPr>
              <a:t>vedy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89471" y="4408727"/>
            <a:ext cx="2196215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0"/>
              </a:lnSpc>
              <a:spcBef>
                <a:spcPts val="0"/>
              </a:spcBef>
              <a:spcAft>
                <a:spcPts val="0"/>
              </a:spcAft>
            </a:pPr>
            <a:r>
              <a:rPr lang="sk-SK" sz="2800" dirty="0">
                <a:solidFill>
                  <a:srgbClr val="FFFFFF"/>
                </a:solidFill>
                <a:latin typeface="DUUQJP+Trebuchet MS"/>
                <a:cs typeface="DUUQJP+Trebuchet MS"/>
              </a:rPr>
              <a:t>7</a:t>
            </a:r>
            <a:r>
              <a:rPr sz="2800" dirty="0" smtClean="0">
                <a:solidFill>
                  <a:srgbClr val="FFFFFF"/>
                </a:solidFill>
                <a:latin typeface="DUUQJP+Trebuchet MS"/>
                <a:cs typeface="DUUQJP+Trebuchet MS"/>
              </a:rPr>
              <a:t>. </a:t>
            </a:r>
            <a:r>
              <a:rPr sz="2800" dirty="0">
                <a:solidFill>
                  <a:srgbClr val="FFFFFF"/>
                </a:solidFill>
                <a:latin typeface="PUUJIP+Trebuchet MS"/>
                <a:cs typeface="PUUJIP+Trebuchet MS"/>
              </a:rPr>
              <a:t>prednáška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0516" y="2813587"/>
            <a:ext cx="8958567" cy="105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39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0" dirty="0">
                <a:solidFill>
                  <a:srgbClr val="FFFFFF"/>
                </a:solidFill>
                <a:latin typeface="PUUJIP+Trebuchet MS"/>
                <a:cs typeface="PUUJIP+Trebuchet MS"/>
              </a:rPr>
              <a:t>Predmetom</a:t>
            </a:r>
            <a:r>
              <a:rPr sz="2400" spc="-3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tejto</a:t>
            </a:r>
            <a:r>
              <a:rPr sz="2400" spc="-50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prednášky</a:t>
            </a:r>
            <a:r>
              <a:rPr sz="2400" spc="11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je</a:t>
            </a:r>
            <a:r>
              <a:rPr sz="2400" spc="-13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ústredná</a:t>
            </a:r>
            <a:r>
              <a:rPr sz="2400" spc="-23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otázka: Môžu</a:t>
            </a:r>
            <a:r>
              <a:rPr sz="2400" spc="-21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počítače</a:t>
            </a:r>
          </a:p>
          <a:p>
            <a:pPr marL="0" marR="0">
              <a:lnSpc>
                <a:spcPts val="259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myslieť?</a:t>
            </a:r>
            <a:r>
              <a:rPr sz="2400" spc="-115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Alebo môže myslieť termostat?</a:t>
            </a:r>
            <a:r>
              <a:rPr sz="2400" spc="-24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Čo</a:t>
            </a:r>
            <a:r>
              <a:rPr sz="2400" spc="-1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spc="-11" dirty="0">
                <a:solidFill>
                  <a:srgbClr val="FFFFFF"/>
                </a:solidFill>
                <a:latin typeface="PUUJIP+Trebuchet MS"/>
                <a:cs typeface="PUUJIP+Trebuchet MS"/>
              </a:rPr>
              <a:t>si</a:t>
            </a:r>
            <a:r>
              <a:rPr sz="2400" spc="39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myslíte</a:t>
            </a:r>
            <a:r>
              <a:rPr sz="2400" spc="30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spc="-49" dirty="0">
                <a:solidFill>
                  <a:srgbClr val="FFFFFF"/>
                </a:solidFill>
                <a:latin typeface="PUUJIP+Trebuchet MS"/>
                <a:cs typeface="PUUJIP+Trebuchet MS"/>
              </a:rPr>
              <a:t>Vy?</a:t>
            </a:r>
            <a:r>
              <a:rPr sz="2400" spc="48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Všetko</a:t>
            </a:r>
          </a:p>
          <a:p>
            <a:pPr marL="1307846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záleží</a:t>
            </a:r>
            <a:r>
              <a:rPr sz="2400" spc="32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na</a:t>
            </a:r>
            <a:r>
              <a:rPr sz="2400" spc="-24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tom,</a:t>
            </a:r>
            <a:r>
              <a:rPr sz="2400" spc="-22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ako si</a:t>
            </a:r>
            <a:r>
              <a:rPr sz="2400" spc="37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zadefinujeme</a:t>
            </a:r>
            <a:r>
              <a:rPr sz="2400" spc="-72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PUUJIP+Trebuchet MS"/>
                <a:cs typeface="PUUJIP+Trebuchet MS"/>
              </a:rPr>
              <a:t>myslenie.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3358605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Analytický</a:t>
            </a:r>
            <a:r>
              <a:rPr sz="3600" spc="22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stroj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058" y="2039001"/>
            <a:ext cx="5301328" cy="964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D0D0D"/>
                </a:solidFill>
                <a:latin typeface="FKFMBO+Trebuchet MS Bold"/>
                <a:cs typeface="FKFMBO+Trebuchet MS Bold"/>
              </a:rPr>
              <a:t>Charles</a:t>
            </a:r>
            <a:r>
              <a:rPr sz="2800" b="1" spc="-43" dirty="0">
                <a:solidFill>
                  <a:srgbClr val="0D0D0D"/>
                </a:solidFill>
                <a:latin typeface="FKFMBO+Trebuchet MS Bold"/>
                <a:cs typeface="FKFMBO+Trebuchet MS Bold"/>
              </a:rPr>
              <a:t> </a:t>
            </a:r>
            <a:r>
              <a:rPr sz="2800" b="1" dirty="0">
                <a:solidFill>
                  <a:srgbClr val="0D0D0D"/>
                </a:solidFill>
                <a:latin typeface="FKFMBO+Trebuchet MS Bold"/>
                <a:cs typeface="FKFMBO+Trebuchet MS Bold"/>
              </a:rPr>
              <a:t>Babbage</a:t>
            </a:r>
            <a:r>
              <a:rPr sz="2800" b="1" spc="-48" dirty="0">
                <a:solidFill>
                  <a:srgbClr val="0D0D0D"/>
                </a:solidFill>
                <a:latin typeface="FKFMBO+Trebuchet MS Bold"/>
                <a:cs typeface="FKFMBO+Trebuchet MS Bold"/>
              </a:rPr>
              <a:t> </a:t>
            </a: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(1791</a:t>
            </a:r>
            <a:r>
              <a:rPr sz="2800" spc="-28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- 1871)</a:t>
            </a:r>
          </a:p>
          <a:p>
            <a:pPr marL="0" marR="0">
              <a:lnSpc>
                <a:spcPts val="3260"/>
              </a:lnSpc>
              <a:spcBef>
                <a:spcPts val="723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s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troj poháňaný</a:t>
            </a:r>
            <a:r>
              <a:rPr sz="2800" spc="-1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parou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2058" y="3063924"/>
            <a:ext cx="6306441" cy="4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program vpísaný</a:t>
            </a:r>
            <a:r>
              <a:rPr sz="2800" spc="1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do</a:t>
            </a:r>
            <a:r>
              <a:rPr sz="2800" spc="1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dierových</a:t>
            </a:r>
            <a:r>
              <a:rPr sz="2800" spc="-4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štítkov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2058" y="3572654"/>
            <a:ext cx="6526439" cy="45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n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óvum:</a:t>
            </a:r>
            <a:r>
              <a:rPr sz="2800" spc="-5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zapamätá</a:t>
            </a:r>
            <a:r>
              <a:rPr sz="2800" spc="3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si vypočítané</a:t>
            </a:r>
            <a:r>
              <a:rPr sz="2800" spc="-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číslo 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0658" y="3957369"/>
            <a:ext cx="4607303" cy="4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použije</a:t>
            </a:r>
            <a:r>
              <a:rPr sz="2800" spc="-5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ho</a:t>
            </a:r>
            <a:r>
              <a:rPr sz="2800" spc="-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v ďalšej</a:t>
            </a:r>
            <a:r>
              <a:rPr sz="2800" spc="-2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operácii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2058" y="4469687"/>
            <a:ext cx="5738717" cy="4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r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ealizácia</a:t>
            </a:r>
            <a:r>
              <a:rPr sz="2800" spc="-1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spc="-11" dirty="0">
                <a:solidFill>
                  <a:srgbClr val="0D0D0D"/>
                </a:solidFill>
                <a:latin typeface="PUUJIP+Trebuchet MS"/>
                <a:cs typeface="PUUJIP+Trebuchet MS"/>
              </a:rPr>
              <a:t>až</a:t>
            </a:r>
            <a:r>
              <a:rPr sz="2800" spc="2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o</a:t>
            </a:r>
            <a:r>
              <a:rPr sz="2800" spc="-2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niekoľko</a:t>
            </a:r>
            <a:r>
              <a:rPr sz="2800" spc="-4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desaťročí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85418" y="4981465"/>
            <a:ext cx="1196846" cy="45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neskôr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9421006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spc="-60" dirty="0">
                <a:solidFill>
                  <a:srgbClr val="FFFFFF"/>
                </a:solidFill>
                <a:latin typeface="DUUQJP+Trebuchet MS"/>
                <a:cs typeface="DUUQJP+Trebuchet MS"/>
              </a:rPr>
              <a:t>Turingov</a:t>
            </a:r>
            <a:r>
              <a:rPr sz="3600" spc="72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stroj</a:t>
            </a:r>
            <a:r>
              <a:rPr sz="3600" spc="51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–</a:t>
            </a:r>
            <a:r>
              <a:rPr sz="3600" spc="18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PUUJIP+Trebuchet MS"/>
                <a:cs typeface="PUUJIP+Trebuchet MS"/>
              </a:rPr>
              <a:t>Môžu</a:t>
            </a:r>
            <a:r>
              <a:rPr sz="3200" spc="2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počítače</a:t>
            </a:r>
            <a:r>
              <a:rPr sz="3200" spc="5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myslieť</a:t>
            </a:r>
            <a:r>
              <a:rPr sz="3200" spc="17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ako</a:t>
            </a:r>
            <a:r>
              <a:rPr sz="3200" spc="12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ľudia?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60874" y="2356165"/>
            <a:ext cx="5392471" cy="1050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DUUQJP+Trebuchet MS"/>
                <a:cs typeface="DUUQJP+Trebuchet MS"/>
              </a:rPr>
              <a:t>1936</a:t>
            </a:r>
            <a:r>
              <a:rPr sz="2400" spc="72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– stroj</a:t>
            </a:r>
            <a:r>
              <a:rPr sz="2400" spc="-2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schopný</a:t>
            </a:r>
            <a:r>
              <a:rPr sz="2400" spc="-1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spracúvať</a:t>
            </a:r>
          </a:p>
          <a:p>
            <a:pPr marL="22860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informácie</a:t>
            </a:r>
            <a:r>
              <a:rPr sz="2400" spc="-7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 vykonávať</a:t>
            </a:r>
            <a:r>
              <a:rPr sz="2400" spc="-2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algoritmické</a:t>
            </a:r>
          </a:p>
          <a:p>
            <a:pPr marL="228600" marR="0">
              <a:lnSpc>
                <a:spcPts val="259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výpočty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60874" y="3472241"/>
            <a:ext cx="5417638" cy="1050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predstava</a:t>
            </a:r>
            <a:r>
              <a:rPr sz="2400" spc="-2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nekonečne</a:t>
            </a:r>
            <a:r>
              <a:rPr sz="2400" spc="-4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dlhej</a:t>
            </a:r>
            <a:r>
              <a:rPr sz="2400" spc="-2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spc="-51" dirty="0">
                <a:solidFill>
                  <a:srgbClr val="0D0D0D"/>
                </a:solidFill>
                <a:latin typeface="PUUJIP+Trebuchet MS"/>
                <a:cs typeface="PUUJIP+Trebuchet MS"/>
              </a:rPr>
              <a:t>pásky,</a:t>
            </a:r>
            <a:r>
              <a:rPr sz="2400" spc="7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na</a:t>
            </a:r>
          </a:p>
          <a:p>
            <a:pPr marL="228600" marR="0">
              <a:lnSpc>
                <a:spcPts val="259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ktorú možno</a:t>
            </a:r>
            <a:r>
              <a:rPr sz="2400" spc="-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písať,</a:t>
            </a:r>
            <a:r>
              <a:rPr sz="2400" spc="-25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ale</a:t>
            </a:r>
            <a:r>
              <a:rPr sz="2400" spc="2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aj</a:t>
            </a:r>
            <a:r>
              <a:rPr sz="2400" spc="-2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napísané</a:t>
            </a:r>
          </a:p>
          <a:p>
            <a:pPr marL="228600" marR="0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vymazať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7570" y="5409217"/>
            <a:ext cx="3193021" cy="1118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Alan</a:t>
            </a:r>
            <a:r>
              <a:rPr sz="1800" b="1" spc="-18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 </a:t>
            </a:r>
            <a:r>
              <a:rPr sz="1800" b="1" spc="-31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Turing</a:t>
            </a:r>
            <a:r>
              <a:rPr sz="1800" b="1" spc="49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 </a:t>
            </a:r>
            <a:r>
              <a:rPr sz="1800" dirty="0">
                <a:solidFill>
                  <a:srgbClr val="FFFFFF"/>
                </a:solidFill>
                <a:latin typeface="DUUQJP+Trebuchet MS"/>
                <a:cs typeface="DUUQJP+Trebuchet MS"/>
              </a:rPr>
              <a:t>(1912</a:t>
            </a:r>
            <a:r>
              <a:rPr sz="1800" spc="34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– </a:t>
            </a:r>
            <a:r>
              <a:rPr sz="1800" dirty="0">
                <a:solidFill>
                  <a:srgbClr val="FFFFFF"/>
                </a:solidFill>
                <a:latin typeface="DUUQJP+Trebuchet MS"/>
                <a:cs typeface="DUUQJP+Trebuchet MS"/>
              </a:rPr>
              <a:t>1954)</a:t>
            </a:r>
          </a:p>
          <a:p>
            <a:pPr marL="0" marR="0">
              <a:lnSpc>
                <a:spcPts val="2090"/>
              </a:lnSpc>
              <a:spcBef>
                <a:spcPts val="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britský matematik</a:t>
            </a:r>
          </a:p>
          <a:p>
            <a:pPr marL="0" marR="0">
              <a:lnSpc>
                <a:spcPts val="2090"/>
              </a:lnSpc>
              <a:spcBef>
                <a:spcPts val="19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rozlúštil</a:t>
            </a:r>
            <a:r>
              <a:rPr sz="1800" spc="-14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nemecký</a:t>
            </a:r>
            <a:r>
              <a:rPr sz="1800" spc="3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kód </a:t>
            </a:r>
            <a:r>
              <a:rPr sz="1800" dirty="0">
                <a:solidFill>
                  <a:srgbClr val="FFFFFF"/>
                </a:solidFill>
                <a:latin typeface="DUUQJP+Trebuchet MS"/>
                <a:cs typeface="DUUQJP+Trebuchet MS"/>
              </a:rPr>
              <a:t>Enigma</a:t>
            </a:r>
          </a:p>
          <a:p>
            <a:pPr marL="0" marR="0">
              <a:lnSpc>
                <a:spcPts val="2090"/>
              </a:lnSpc>
              <a:spcBef>
                <a:spcPts val="72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priekopník</a:t>
            </a:r>
            <a:r>
              <a:rPr sz="1800" spc="13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počítačovej</a:t>
            </a:r>
            <a:r>
              <a:rPr sz="1800" spc="24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PUUJIP+Trebuchet MS"/>
                <a:cs typeface="PUUJIP+Trebuchet MS"/>
              </a:rPr>
              <a:t>vedy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9421006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spc="-60" dirty="0">
                <a:solidFill>
                  <a:srgbClr val="FFFFFF"/>
                </a:solidFill>
                <a:latin typeface="DUUQJP+Trebuchet MS"/>
                <a:cs typeface="DUUQJP+Trebuchet MS"/>
              </a:rPr>
              <a:t>Turingov</a:t>
            </a:r>
            <a:r>
              <a:rPr sz="3600" spc="72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stroj</a:t>
            </a:r>
            <a:r>
              <a:rPr sz="3600" spc="51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–</a:t>
            </a:r>
            <a:r>
              <a:rPr sz="3600" spc="18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PUUJIP+Trebuchet MS"/>
                <a:cs typeface="PUUJIP+Trebuchet MS"/>
              </a:rPr>
              <a:t>Môžu</a:t>
            </a:r>
            <a:r>
              <a:rPr sz="3200" spc="2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počítače</a:t>
            </a:r>
            <a:r>
              <a:rPr sz="3200" spc="5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myslieť</a:t>
            </a:r>
            <a:r>
              <a:rPr sz="3200" spc="17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ako</a:t>
            </a:r>
            <a:r>
              <a:rPr sz="3200" spc="12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PUUJIP+Trebuchet MS"/>
                <a:cs typeface="PUUJIP+Trebuchet MS"/>
              </a:rPr>
              <a:t>ľudia?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60874" y="4182806"/>
            <a:ext cx="2162689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znaky</a:t>
            </a:r>
            <a:r>
              <a:rPr sz="2400" spc="23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stroja: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60874" y="4636672"/>
            <a:ext cx="4764020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TWQWTP+Wingdings"/>
                <a:cs typeface="TWQWTP+Wingdings"/>
              </a:rPr>
              <a:t></a:t>
            </a:r>
            <a:r>
              <a:rPr sz="2400" spc="446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izolovanosť</a:t>
            </a:r>
            <a:r>
              <a:rPr sz="2400" spc="-2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od vonkajšieho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5655" y="4966396"/>
            <a:ext cx="1554293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prostredia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7570" y="5409217"/>
            <a:ext cx="3193021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Alan</a:t>
            </a:r>
            <a:r>
              <a:rPr sz="1800" b="1" spc="-18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 </a:t>
            </a:r>
            <a:r>
              <a:rPr sz="1800" b="1" spc="-31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Turing</a:t>
            </a:r>
            <a:r>
              <a:rPr sz="1800" b="1" spc="49" dirty="0">
                <a:solidFill>
                  <a:srgbClr val="FFFFFF"/>
                </a:solidFill>
                <a:latin typeface="FKFMBO+Trebuchet MS Bold"/>
                <a:cs typeface="FKFMBO+Trebuchet MS Bold"/>
              </a:rPr>
              <a:t> </a:t>
            </a:r>
            <a:endParaRPr sz="1800" dirty="0">
              <a:solidFill>
                <a:srgbClr val="FFFFFF"/>
              </a:solidFill>
              <a:latin typeface="DUUQJP+Trebuchet MS"/>
              <a:cs typeface="DUUQJP+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0874" y="5423336"/>
            <a:ext cx="5527869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TWQWTP+Wingdings"/>
                <a:cs typeface="TWQWTP+Wingdings"/>
              </a:rPr>
              <a:t></a:t>
            </a:r>
            <a:r>
              <a:rPr sz="2400" spc="446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perfektnosť</a:t>
            </a:r>
            <a:r>
              <a:rPr sz="2400" spc="-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–</a:t>
            </a:r>
            <a:r>
              <a:rPr sz="2400" spc="2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vykoná vždy to, </a:t>
            </a:r>
            <a:r>
              <a:rPr sz="2400" spc="13" dirty="0">
                <a:solidFill>
                  <a:srgbClr val="0D0D0D"/>
                </a:solidFill>
                <a:latin typeface="PUUJIP+Trebuchet MS"/>
                <a:cs typeface="PUUJIP+Trebuchet MS"/>
              </a:rPr>
              <a:t>čo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75655" y="5753111"/>
            <a:ext cx="2896233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mu prikáže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760917"/>
            <a:ext cx="7920246" cy="1063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2"/>
              </a:lnSpc>
              <a:spcBef>
                <a:spcPts val="0"/>
              </a:spcBef>
              <a:spcAft>
                <a:spcPts val="0"/>
              </a:spcAft>
            </a:pPr>
            <a:r>
              <a:rPr sz="3600" spc="-60" dirty="0">
                <a:solidFill>
                  <a:srgbClr val="FFFFFF"/>
                </a:solidFill>
                <a:latin typeface="DUUQJP+Trebuchet MS"/>
                <a:cs typeface="DUUQJP+Trebuchet MS"/>
              </a:rPr>
              <a:t>Turingov</a:t>
            </a:r>
            <a:r>
              <a:rPr sz="3600" spc="71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test - </a:t>
            </a: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zisťuje</a:t>
            </a:r>
            <a:r>
              <a:rPr sz="3600" spc="16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(ne</a:t>
            </a: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)prítomnosť</a:t>
            </a:r>
          </a:p>
          <a:p>
            <a:pPr marL="0" marR="0">
              <a:lnSpc>
                <a:spcPts val="389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inteligencie v stroji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058" y="2320097"/>
            <a:ext cx="2212600" cy="812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Imitačná</a:t>
            </a:r>
            <a:r>
              <a:rPr sz="2400" spc="-7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hra:</a:t>
            </a:r>
          </a:p>
          <a:p>
            <a:pPr marL="0" marR="0">
              <a:lnSpc>
                <a:spcPts val="2789"/>
              </a:lnSpc>
              <a:spcBef>
                <a:spcPts val="523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Muž</a:t>
            </a:r>
            <a:r>
              <a:rPr sz="2400" spc="-1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(A)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86933" y="2320035"/>
            <a:ext cx="277250" cy="4365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15533" y="2308020"/>
            <a:ext cx="3936895" cy="793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58" dirty="0">
                <a:solidFill>
                  <a:srgbClr val="0D0D0D"/>
                </a:solidFill>
                <a:latin typeface="DUUQJP+Trebuchet MS"/>
                <a:cs typeface="DUUQJP+Trebuchet MS"/>
              </a:rPr>
              <a:t>Turing</a:t>
            </a:r>
            <a:r>
              <a:rPr sz="2800" spc="38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nahradil</a:t>
            </a:r>
            <a:r>
              <a:rPr sz="2800" spc="15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jedného</a:t>
            </a:r>
          </a:p>
          <a:p>
            <a:pPr marL="0" marR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hráča počítačom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86933" y="3119169"/>
            <a:ext cx="3011769" cy="4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a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k by moderátor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2058" y="3158678"/>
            <a:ext cx="2277283" cy="81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Žena</a:t>
            </a:r>
            <a:r>
              <a:rPr sz="2400" spc="-2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(B)</a:t>
            </a:r>
          </a:p>
          <a:p>
            <a:pPr marL="0" marR="0">
              <a:lnSpc>
                <a:spcPts val="2789"/>
              </a:lnSpc>
              <a:spcBef>
                <a:spcPts val="523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Moderátor</a:t>
            </a:r>
            <a:r>
              <a:rPr sz="2400" spc="-4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(C)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15533" y="3460259"/>
            <a:ext cx="4399905" cy="45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nedokázal</a:t>
            </a:r>
            <a:r>
              <a:rPr sz="2800" spc="-4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rozlúštiť,</a:t>
            </a:r>
            <a:r>
              <a:rPr sz="2800" spc="-5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kto</a:t>
            </a:r>
            <a:r>
              <a:rPr sz="2800" spc="1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je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15533" y="3794425"/>
            <a:ext cx="3908970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kto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→ prešiel </a:t>
            </a:r>
            <a:r>
              <a:rPr sz="2800" spc="-17" dirty="0">
                <a:solidFill>
                  <a:srgbClr val="0D0D0D"/>
                </a:solidFill>
                <a:latin typeface="KNGTWS+Calibri"/>
                <a:cs typeface="KNGTWS+Calibri"/>
              </a:rPr>
              <a:t>Turingovým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72058" y="3999894"/>
            <a:ext cx="4365420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C je</a:t>
            </a:r>
            <a:r>
              <a:rPr sz="2400" spc="-1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v</a:t>
            </a:r>
            <a:r>
              <a:rPr sz="2400" spc="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inej</a:t>
            </a:r>
            <a:r>
              <a:rPr sz="2400" spc="-5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miestnosti,</a:t>
            </a:r>
            <a:r>
              <a:rPr sz="2400" spc="-2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úloha: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15533" y="4135511"/>
            <a:ext cx="1182032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2" dirty="0">
                <a:solidFill>
                  <a:srgbClr val="0D0D0D"/>
                </a:solidFill>
                <a:latin typeface="LDMVBA+Calibri"/>
                <a:cs typeface="LDMVBA+Calibri"/>
              </a:rPr>
              <a:t>testom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00658" y="4293169"/>
            <a:ext cx="2367876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určiť,</a:t>
            </a:r>
            <a:r>
              <a:rPr sz="2400" spc="-2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kto je</a:t>
            </a:r>
            <a:r>
              <a:rPr sz="2400" spc="-1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kto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686933" y="4602236"/>
            <a:ext cx="4474673" cy="1156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LDMVBA+Calibri"/>
                <a:cs typeface="LDMVBA+Calibri"/>
              </a:rPr>
              <a:t>z</a:t>
            </a:r>
            <a:r>
              <a:rPr sz="2800" spc="-11" dirty="0">
                <a:solidFill>
                  <a:srgbClr val="0D0D0D"/>
                </a:solidFill>
                <a:latin typeface="LDMVBA+Calibri"/>
                <a:cs typeface="LDMVBA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toho </a:t>
            </a:r>
            <a:r>
              <a:rPr sz="2800" spc="-29" dirty="0">
                <a:solidFill>
                  <a:srgbClr val="0D0D0D"/>
                </a:solidFill>
                <a:latin typeface="KNGTWS+Calibri"/>
                <a:cs typeface="KNGTWS+Calibri"/>
              </a:rPr>
              <a:t>by</a:t>
            </a:r>
            <a:r>
              <a:rPr sz="2800" spc="4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mohlo vyplývať,</a:t>
            </a:r>
            <a:r>
              <a:rPr sz="2800" spc="-37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spc="-72" dirty="0">
                <a:solidFill>
                  <a:srgbClr val="0D0D0D"/>
                </a:solidFill>
                <a:latin typeface="KNGTWS+Calibri"/>
                <a:cs typeface="KNGTWS+Calibri"/>
              </a:rPr>
              <a:t>že</a:t>
            </a:r>
          </a:p>
          <a:p>
            <a:pPr marL="228600" marR="0">
              <a:lnSpc>
                <a:spcPts val="2689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počítač</a:t>
            </a:r>
            <a:r>
              <a:rPr sz="2800" spc="-16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spc="-17" dirty="0">
                <a:solidFill>
                  <a:srgbClr val="0D0D0D"/>
                </a:solidFill>
                <a:latin typeface="KNGTWS+Calibri"/>
                <a:cs typeface="KNGTWS+Calibri"/>
              </a:rPr>
              <a:t>myslí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 a</a:t>
            </a:r>
            <a:r>
              <a:rPr sz="2800" spc="14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má</a:t>
            </a:r>
          </a:p>
          <a:p>
            <a:pPr marL="228600" marR="0">
              <a:lnSpc>
                <a:spcPts val="268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LDMVBA+Calibri"/>
                <a:cs typeface="LDMVBA+Calibri"/>
              </a:rPr>
              <a:t>inteligenciu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2799555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spc="-60" dirty="0">
                <a:solidFill>
                  <a:srgbClr val="FFFFFF"/>
                </a:solidFill>
                <a:latin typeface="DUUQJP+Trebuchet MS"/>
                <a:cs typeface="DUUQJP+Trebuchet MS"/>
              </a:rPr>
              <a:t>Turingov</a:t>
            </a:r>
            <a:r>
              <a:rPr sz="3600" spc="72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test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86933" y="2356673"/>
            <a:ext cx="4315078" cy="138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DUUQJP+Trebuchet MS"/>
                <a:cs typeface="DUUQJP+Trebuchet MS"/>
              </a:rPr>
              <a:t>s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úťaž</a:t>
            </a:r>
            <a:r>
              <a:rPr sz="2400" spc="-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programátorov</a:t>
            </a:r>
            <a:r>
              <a:rPr sz="2400" spc="-2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–</a:t>
            </a:r>
          </a:p>
          <a:p>
            <a:pPr marL="228600" marR="0">
              <a:lnSpc>
                <a:spcPts val="259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presvedčiť</a:t>
            </a:r>
            <a:r>
              <a:rPr sz="2400" spc="-4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rozhodcov</a:t>
            </a:r>
            <a:r>
              <a:rPr sz="2400" spc="-2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 tom,</a:t>
            </a:r>
          </a:p>
          <a:p>
            <a:pPr marL="228600" marR="0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1" dirty="0">
                <a:solidFill>
                  <a:srgbClr val="0D0D0D"/>
                </a:solidFill>
                <a:latin typeface="PUUJIP+Trebuchet MS"/>
                <a:cs typeface="PUUJIP+Trebuchet MS"/>
              </a:rPr>
              <a:t>že</a:t>
            </a:r>
            <a:r>
              <a:rPr sz="2400" spc="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ich</a:t>
            </a:r>
            <a:r>
              <a:rPr sz="2400" spc="-2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stroj odpovedá</a:t>
            </a:r>
            <a:r>
              <a:rPr sz="2400" spc="-4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ako</a:t>
            </a:r>
          </a:p>
          <a:p>
            <a:pPr marL="22860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človek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86933" y="3802060"/>
            <a:ext cx="3569934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DUUQJP+Trebuchet MS"/>
                <a:cs typeface="DUUQJP+Trebuchet MS"/>
              </a:rPr>
              <a:t>k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ladú </a:t>
            </a:r>
            <a:r>
              <a:rPr sz="2400" spc="-14" dirty="0">
                <a:solidFill>
                  <a:srgbClr val="0D0D0D"/>
                </a:solidFill>
                <a:latin typeface="PUUJIP+Trebuchet MS"/>
                <a:cs typeface="PUUJIP+Trebuchet MS"/>
              </a:rPr>
              <a:t>sa</a:t>
            </a:r>
            <a:r>
              <a:rPr sz="2400" spc="4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spc="-42" dirty="0">
                <a:solidFill>
                  <a:srgbClr val="0D0D0D"/>
                </a:solidFill>
                <a:latin typeface="PUUJIP+Trebuchet MS"/>
                <a:cs typeface="PUUJIP+Trebuchet MS"/>
              </a:rPr>
              <a:t>otázky,</a:t>
            </a:r>
            <a:r>
              <a:rPr sz="2400" spc="4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dávajú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15533" y="4130958"/>
            <a:ext cx="1475458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odpovede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86933" y="4585777"/>
            <a:ext cx="3274518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v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opred</a:t>
            </a:r>
            <a:r>
              <a:rPr sz="2400" spc="-2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vybrané</a:t>
            </a:r>
            <a:r>
              <a:rPr sz="2400" spc="-2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témy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86933" y="5043231"/>
            <a:ext cx="460280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posilnenie</a:t>
            </a:r>
            <a:r>
              <a:rPr sz="2400" spc="-22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popularity </a:t>
            </a:r>
            <a:r>
              <a:rPr sz="24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metaf</a:t>
            </a:r>
            <a:r>
              <a:rPr lang="sk-SK" sz="24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o</a:t>
            </a:r>
            <a:r>
              <a:rPr sz="24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ry</a:t>
            </a:r>
            <a:endParaRPr sz="2400" dirty="0">
              <a:solidFill>
                <a:srgbClr val="0D0D0D"/>
              </a:solidFill>
              <a:latin typeface="PUUJIP+Trebuchet MS"/>
              <a:cs typeface="PUUJIP+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15533" y="5372129"/>
            <a:ext cx="1323207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počítača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1506140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Kritika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058" y="2086402"/>
            <a:ext cx="3991696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DUUQJP+Trebuchet MS"/>
                <a:cs typeface="DUUQJP+Trebuchet MS"/>
              </a:rPr>
              <a:t>s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chéma</a:t>
            </a:r>
            <a:r>
              <a:rPr sz="2800" spc="-1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800" dirty="0">
                <a:solidFill>
                  <a:srgbClr val="0D0D0D"/>
                </a:solidFill>
                <a:latin typeface="PUUJIP+Trebuchet MS"/>
                <a:cs typeface="PUUJIP+Trebuchet MS"/>
              </a:rPr>
              <a:t>vstup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→ výstup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0658" y="2467112"/>
            <a:ext cx="2626933" cy="473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3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príliš</a:t>
            </a:r>
            <a:r>
              <a:rPr sz="2800" spc="-21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jednoduchá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2058" y="2979720"/>
            <a:ext cx="3855298" cy="473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LDMVBA+Calibri"/>
                <a:cs typeface="LDMVBA+Calibri"/>
              </a:rPr>
              <a:t>i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gnoruje</a:t>
            </a:r>
            <a:r>
              <a:rPr sz="2800" spc="-10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mentálne </a:t>
            </a:r>
            <a:r>
              <a:rPr sz="2800" spc="-13" dirty="0">
                <a:solidFill>
                  <a:srgbClr val="0D0D0D"/>
                </a:solidFill>
                <a:latin typeface="KNGTWS+Calibri"/>
                <a:cs typeface="KNGTWS+Calibri"/>
              </a:rPr>
              <a:t>stavy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2058" y="3492038"/>
            <a:ext cx="4345972" cy="1626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80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D0D0D"/>
                </a:solidFill>
                <a:latin typeface="LDMVBA+Calibri"/>
                <a:cs typeface="LDMVBA+Calibri"/>
              </a:rPr>
              <a:t>o zaplnenie bieleho miesta</a:t>
            </a:r>
          </a:p>
          <a:p>
            <a:pPr marL="228600" marR="0">
              <a:lnSpc>
                <a:spcPts val="3023"/>
              </a:lnSpc>
              <a:spcBef>
                <a:spcPts val="5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medzi vstupom</a:t>
            </a:r>
            <a:r>
              <a:rPr sz="2800" spc="1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a</a:t>
            </a:r>
            <a:r>
              <a:rPr sz="2800" spc="21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výstupom</a:t>
            </a:r>
          </a:p>
          <a:p>
            <a:pPr marL="228600" marR="0">
              <a:lnSpc>
                <a:spcPts val="3027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sa pokúšali </a:t>
            </a:r>
            <a:r>
              <a:rPr sz="2800" spc="-21" dirty="0">
                <a:solidFill>
                  <a:srgbClr val="0D0D0D"/>
                </a:solidFill>
                <a:latin typeface="KNGTWS+Calibri"/>
                <a:cs typeface="KNGTWS+Calibri"/>
              </a:rPr>
              <a:t>rôzne</a:t>
            </a:r>
            <a:r>
              <a:rPr sz="2800" spc="11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KNGTWS+Calibri"/>
                <a:cs typeface="KNGTWS+Calibri"/>
              </a:rPr>
              <a:t>teórie</a:t>
            </a:r>
          </a:p>
          <a:p>
            <a:pPr marL="228600" marR="0">
              <a:lnSpc>
                <a:spcPts val="30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D0D0D"/>
                </a:solidFill>
                <a:latin typeface="LDMVBA+Calibri"/>
                <a:cs typeface="LDMVBA+Calibri"/>
              </a:rPr>
              <a:t>identity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2058" y="5163546"/>
            <a:ext cx="4539340" cy="1068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v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neurovedách:</a:t>
            </a:r>
            <a:r>
              <a:rPr sz="2400" spc="-56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neurónové</a:t>
            </a:r>
          </a:p>
          <a:p>
            <a:pPr marL="22860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4" dirty="0">
                <a:solidFill>
                  <a:srgbClr val="0D0D0D"/>
                </a:solidFill>
                <a:latin typeface="LDMVBA+Calibri"/>
                <a:cs typeface="LDMVBA+Calibri"/>
              </a:rPr>
              <a:t>procesy</a:t>
            </a:r>
            <a:r>
              <a:rPr sz="2400" spc="16" dirty="0">
                <a:solidFill>
                  <a:srgbClr val="0D0D0D"/>
                </a:solidFill>
                <a:latin typeface="LDMVBA+Calibri"/>
                <a:cs typeface="LDMVBA+Calibri"/>
              </a:rPr>
              <a:t> </a:t>
            </a:r>
            <a:r>
              <a:rPr sz="2400" spc="-22" dirty="0">
                <a:solidFill>
                  <a:srgbClr val="0D0D0D"/>
                </a:solidFill>
                <a:latin typeface="LDMVBA+Calibri"/>
                <a:cs typeface="LDMVBA+Calibri"/>
              </a:rPr>
              <a:t>(stav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 </a:t>
            </a:r>
            <a:r>
              <a:rPr sz="2400" spc="-18" dirty="0">
                <a:solidFill>
                  <a:srgbClr val="0D0D0D"/>
                </a:solidFill>
                <a:latin typeface="LDMVBA+Calibri"/>
                <a:cs typeface="LDMVBA+Calibri"/>
              </a:rPr>
              <a:t>mysle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 =</a:t>
            </a:r>
            <a:r>
              <a:rPr sz="2400" spc="11" dirty="0">
                <a:solidFill>
                  <a:srgbClr val="0D0D0D"/>
                </a:solidFill>
                <a:latin typeface="LDMVBA+Calibri"/>
                <a:cs typeface="LDMVBA+Calibri"/>
              </a:rPr>
              <a:t> </a:t>
            </a:r>
            <a:r>
              <a:rPr sz="2400" spc="-27" dirty="0">
                <a:solidFill>
                  <a:srgbClr val="0D0D0D"/>
                </a:solidFill>
                <a:latin typeface="LDMVBA+Calibri"/>
                <a:cs typeface="LDMVBA+Calibri"/>
              </a:rPr>
              <a:t>stav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 mozgu)</a:t>
            </a:r>
          </a:p>
          <a:p>
            <a:pPr marL="228600" marR="0">
              <a:lnSpc>
                <a:spcPts val="259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→ vylúčenie</a:t>
            </a:r>
            <a:r>
              <a:rPr sz="2400" spc="-12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spc="-22" dirty="0">
                <a:solidFill>
                  <a:srgbClr val="0D0D0D"/>
                </a:solidFill>
                <a:latin typeface="KNGTWS+Calibri"/>
                <a:cs typeface="KNGTWS+Calibri"/>
              </a:rPr>
              <a:t>počítačov,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0658" y="6151138"/>
            <a:ext cx="7255582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termostatov</a:t>
            </a:r>
            <a:r>
              <a:rPr sz="2400" spc="-58" dirty="0">
                <a:solidFill>
                  <a:srgbClr val="0D0D0D"/>
                </a:solidFill>
                <a:latin typeface="LDMVBA+Calibri"/>
                <a:cs typeface="LDMVBA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a</a:t>
            </a:r>
            <a:r>
              <a:rPr sz="2400" spc="-10" dirty="0">
                <a:solidFill>
                  <a:srgbClr val="0D0D0D"/>
                </a:solidFill>
                <a:latin typeface="LDMVBA+Calibri"/>
                <a:cs typeface="LDMVBA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marťanov</a:t>
            </a:r>
            <a:r>
              <a:rPr sz="2400" spc="-5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z </a:t>
            </a:r>
            <a:r>
              <a:rPr sz="2400" spc="-11" dirty="0" err="1" smtClean="0">
                <a:solidFill>
                  <a:srgbClr val="0D0D0D"/>
                </a:solidFill>
                <a:latin typeface="LDMVBA+Calibri"/>
                <a:cs typeface="LDMVBA+Calibri"/>
              </a:rPr>
              <a:t>radu</a:t>
            </a:r>
            <a:r>
              <a:rPr lang="sk-SK" sz="2400" spc="-11" dirty="0" smtClean="0">
                <a:solidFill>
                  <a:srgbClr val="0D0D0D"/>
                </a:solidFill>
                <a:latin typeface="LDMVBA+Calibri"/>
                <a:cs typeface="LDMVBA+Calibri"/>
              </a:rPr>
              <a:t> </a:t>
            </a:r>
            <a:r>
              <a:rPr sz="2400" spc="-10" dirty="0" err="1" smtClean="0">
                <a:solidFill>
                  <a:srgbClr val="0D0D0D"/>
                </a:solidFill>
                <a:latin typeface="KNGTWS+Calibri"/>
                <a:cs typeface="KNGTWS+Calibri"/>
              </a:rPr>
              <a:t>mysliacich</a:t>
            </a:r>
            <a:r>
              <a:rPr sz="2400" dirty="0" smtClean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spc="-15" dirty="0">
                <a:solidFill>
                  <a:srgbClr val="0D0D0D"/>
                </a:solidFill>
                <a:latin typeface="KNGTWS+Calibri"/>
                <a:cs typeface="KNGTWS+Calibri"/>
              </a:rPr>
              <a:t>systémov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1506140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Kritika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058" y="2297273"/>
            <a:ext cx="2751521" cy="36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200" spc="4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200" dirty="0" err="1">
                <a:solidFill>
                  <a:srgbClr val="0D0D0D"/>
                </a:solidFill>
                <a:latin typeface="DUUQJP+Trebuchet MS"/>
                <a:cs typeface="DUUQJP+Trebuchet MS"/>
              </a:rPr>
              <a:t>proti</a:t>
            </a:r>
            <a:r>
              <a:rPr sz="2200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200" dirty="0" err="1" smtClean="0">
                <a:solidFill>
                  <a:srgbClr val="0D0D0D"/>
                </a:solidFill>
                <a:latin typeface="DUUQJP+Trebuchet MS"/>
                <a:cs typeface="DUUQJP+Trebuchet MS"/>
              </a:rPr>
              <a:t>funkcionalisti</a:t>
            </a:r>
            <a:endParaRPr sz="2200" dirty="0">
              <a:solidFill>
                <a:srgbClr val="0D0D0D"/>
              </a:solidFill>
              <a:latin typeface="DUUQJP+Trebuchet MS"/>
              <a:cs typeface="DUUQJP+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058" y="2656651"/>
            <a:ext cx="474787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200" spc="4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D0D0D"/>
                </a:solidFill>
                <a:latin typeface="DUUQJP+Trebuchet MS"/>
                <a:cs typeface="DUUQJP+Trebuchet MS"/>
              </a:rPr>
              <a:t>m</a:t>
            </a:r>
            <a:r>
              <a:rPr sz="2200" dirty="0">
                <a:solidFill>
                  <a:srgbClr val="0D0D0D"/>
                </a:solidFill>
                <a:latin typeface="PUUJIP+Trebuchet MS"/>
                <a:cs typeface="PUUJIP+Trebuchet MS"/>
              </a:rPr>
              <a:t>ateriál</a:t>
            </a:r>
            <a:r>
              <a:rPr sz="2200" spc="-15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200" dirty="0">
                <a:solidFill>
                  <a:srgbClr val="0D0D0D"/>
                </a:solidFill>
                <a:latin typeface="PUUJIP+Trebuchet MS"/>
                <a:cs typeface="PUUJIP+Trebuchet MS"/>
              </a:rPr>
              <a:t>je nepodstatný,</a:t>
            </a:r>
            <a:r>
              <a:rPr sz="2200" spc="4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200" dirty="0">
                <a:solidFill>
                  <a:srgbClr val="0D0D0D"/>
                </a:solidFill>
                <a:latin typeface="PUUJIP+Trebuchet MS"/>
                <a:cs typeface="PUUJIP+Trebuchet MS"/>
              </a:rPr>
              <a:t>nezáleží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3432" y="2891346"/>
            <a:ext cx="4176464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na</a:t>
            </a:r>
            <a:r>
              <a:rPr sz="22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2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fyzikálnom</a:t>
            </a:r>
            <a:r>
              <a:rPr sz="2200" spc="-17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2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zložení</a:t>
            </a:r>
            <a:r>
              <a:rPr sz="22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2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systému</a:t>
            </a:r>
            <a:r>
              <a:rPr sz="22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,</a:t>
            </a:r>
            <a:endParaRPr sz="2200" dirty="0">
              <a:solidFill>
                <a:srgbClr val="0D0D0D"/>
              </a:solidFill>
              <a:latin typeface="PUUJIP+Trebuchet MS"/>
              <a:cs typeface="PUUJIP+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0658" y="3126710"/>
            <a:ext cx="2935102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D0D0D"/>
                </a:solidFill>
                <a:latin typeface="PUUJIP+Trebuchet MS"/>
                <a:cs typeface="PUUJIP+Trebuchet MS"/>
              </a:rPr>
              <a:t>dôležitá je</a:t>
            </a:r>
            <a:r>
              <a:rPr sz="2200" spc="-1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200" dirty="0">
                <a:solidFill>
                  <a:srgbClr val="0D0D0D"/>
                </a:solidFill>
                <a:latin typeface="PUUJIP+Trebuchet MS"/>
                <a:cs typeface="PUUJIP+Trebuchet MS"/>
              </a:rPr>
              <a:t>schéma: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2058" y="3485435"/>
            <a:ext cx="41609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8"/>
              </a:lnSpc>
              <a:spcBef>
                <a:spcPts val="0"/>
              </a:spcBef>
              <a:spcAft>
                <a:spcPts val="0"/>
              </a:spcAft>
            </a:pPr>
            <a:r>
              <a:rPr sz="2200" spc="480" dirty="0" smtClean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endParaRPr lang="sk-SK" sz="2200" spc="480" dirty="0" smtClean="0">
              <a:solidFill>
                <a:srgbClr val="0D0D0D"/>
              </a:solidFill>
              <a:latin typeface="Times New Roman"/>
              <a:cs typeface="Times New Roman"/>
            </a:endParaRPr>
          </a:p>
          <a:p>
            <a:pPr marL="0" marR="0">
              <a:lnSpc>
                <a:spcPts val="269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 err="1" smtClean="0">
                <a:solidFill>
                  <a:srgbClr val="0D0D0D"/>
                </a:solidFill>
                <a:latin typeface="DUUQJP+Trebuchet MS"/>
                <a:cs typeface="DUUQJP+Trebuchet MS"/>
              </a:rPr>
              <a:t>vstup</a:t>
            </a:r>
            <a:r>
              <a:rPr sz="2200" dirty="0" smtClean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→</a:t>
            </a:r>
            <a:r>
              <a:rPr sz="2200" spc="11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mentálny</a:t>
            </a:r>
            <a:r>
              <a:rPr sz="2200" spc="-20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spc="-25" dirty="0">
                <a:solidFill>
                  <a:srgbClr val="0D0D0D"/>
                </a:solidFill>
                <a:latin typeface="KNGTWS+Calibri"/>
                <a:cs typeface="KNGTWS+Calibri"/>
              </a:rPr>
              <a:t>stav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 →</a:t>
            </a:r>
            <a:r>
              <a:rPr sz="2200" spc="11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výstup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2058" y="4208065"/>
            <a:ext cx="4531553" cy="380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8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200" spc="4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„mohli</a:t>
            </a:r>
            <a:r>
              <a:rPr sz="2200" spc="-55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by </a:t>
            </a:r>
            <a:r>
              <a:rPr sz="2200" spc="10" dirty="0">
                <a:solidFill>
                  <a:srgbClr val="0D0D0D"/>
                </a:solidFill>
                <a:latin typeface="KNGTWS+Calibri"/>
                <a:cs typeface="KNGTWS+Calibri"/>
              </a:rPr>
              <a:t>sme</a:t>
            </a:r>
            <a:r>
              <a:rPr sz="2200" spc="-17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byť</a:t>
            </a:r>
            <a:r>
              <a:rPr sz="2200" spc="-12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z ementálu</a:t>
            </a:r>
            <a:r>
              <a:rPr sz="2200" spc="-45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a bolo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0658" y="4443432"/>
            <a:ext cx="1598073" cy="380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5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by </a:t>
            </a:r>
            <a:r>
              <a:rPr sz="2200" spc="-17" dirty="0">
                <a:solidFill>
                  <a:srgbClr val="0D0D0D"/>
                </a:solidFill>
                <a:latin typeface="KNGTWS+Calibri"/>
                <a:cs typeface="KNGTWS+Calibri"/>
              </a:rPr>
              <a:t>to</a:t>
            </a:r>
            <a:r>
              <a:rPr sz="2200" spc="13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spc="-29" dirty="0">
                <a:solidFill>
                  <a:srgbClr val="0D0D0D"/>
                </a:solidFill>
                <a:latin typeface="KNGTWS+Calibri"/>
                <a:cs typeface="KNGTWS+Calibri"/>
              </a:rPr>
              <a:t>jedno.“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72058" y="5169110"/>
            <a:ext cx="4061369" cy="380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5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200" spc="4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200" spc="-17" dirty="0">
                <a:solidFill>
                  <a:srgbClr val="0D0D0D"/>
                </a:solidFill>
                <a:latin typeface="LDMVBA+Calibri"/>
                <a:cs typeface="LDMVBA+Calibri"/>
              </a:rPr>
              <a:t>t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eórie</a:t>
            </a:r>
            <a:r>
              <a:rPr sz="2200" spc="-45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pripodobňovania</a:t>
            </a:r>
            <a:r>
              <a:rPr sz="2200" spc="-89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mozgu 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0658" y="5403806"/>
            <a:ext cx="1349234" cy="380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5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D0D0D"/>
                </a:solidFill>
                <a:latin typeface="KNGTWS+Calibri"/>
                <a:cs typeface="KNGTWS+Calibri"/>
              </a:rPr>
              <a:t>počítačom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3959133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John</a:t>
            </a:r>
            <a:r>
              <a:rPr sz="3600" spc="37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DUUQJP+Trebuchet MS"/>
                <a:cs typeface="DUUQJP+Trebuchet MS"/>
              </a:rPr>
              <a:t>Searle (1932)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058" y="2813587"/>
            <a:ext cx="4567478" cy="1709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spochybnil</a:t>
            </a:r>
            <a:r>
              <a:rPr sz="2400" spc="-15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hlavný princíp</a:t>
            </a:r>
          </a:p>
          <a:p>
            <a:pPr marL="228600" marR="0">
              <a:lnSpc>
                <a:spcPts val="2594"/>
              </a:lnSpc>
              <a:spcBef>
                <a:spcPts val="0"/>
              </a:spcBef>
              <a:spcAft>
                <a:spcPts val="0"/>
              </a:spcAft>
            </a:pPr>
            <a:r>
              <a:rPr sz="2400" spc="-28" dirty="0">
                <a:solidFill>
                  <a:srgbClr val="0D0D0D"/>
                </a:solidFill>
                <a:latin typeface="DUUQJP+Trebuchet MS"/>
                <a:cs typeface="DUUQJP+Trebuchet MS"/>
              </a:rPr>
              <a:t>Turingovho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testu:</a:t>
            </a:r>
            <a:r>
              <a:rPr sz="2400" spc="-2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samotná</a:t>
            </a:r>
          </a:p>
          <a:p>
            <a:pPr marL="22860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schopnosť</a:t>
            </a:r>
            <a:r>
              <a:rPr sz="2400" spc="-2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zmysluplne</a:t>
            </a:r>
          </a:p>
          <a:p>
            <a:pPr marL="228600" marR="0">
              <a:lnSpc>
                <a:spcPts val="259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odpovedať</a:t>
            </a:r>
            <a:r>
              <a:rPr sz="2400" spc="-7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na položené</a:t>
            </a:r>
            <a:r>
              <a:rPr sz="2400" spc="-2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otázky</a:t>
            </a:r>
          </a:p>
          <a:p>
            <a:pPr marL="22860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nie</a:t>
            </a:r>
            <a:r>
              <a:rPr sz="2400" spc="-2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je</a:t>
            </a:r>
            <a:r>
              <a:rPr sz="2400" spc="1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dostatočná</a:t>
            </a:r>
            <a:r>
              <a:rPr sz="2400" spc="-7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0658" y="4460809"/>
            <a:ext cx="3343704" cy="721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preukázanie</a:t>
            </a:r>
            <a:r>
              <a:rPr sz="2400" spc="-2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schopnosti</a:t>
            </a:r>
          </a:p>
          <a:p>
            <a:pPr marL="0" marR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porozumenia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2058" y="5244399"/>
            <a:ext cx="3238231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m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ozog nie</a:t>
            </a:r>
            <a:r>
              <a:rPr sz="2400" spc="-2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je</a:t>
            </a:r>
            <a:r>
              <a:rPr sz="2400" spc="-1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počítač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2058" y="5701904"/>
            <a:ext cx="454560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Searl</a:t>
            </a:r>
            <a:r>
              <a:rPr sz="2400" spc="-12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400" dirty="0" err="1">
                <a:solidFill>
                  <a:srgbClr val="0D0D0D"/>
                </a:solidFill>
                <a:latin typeface="DUUQJP+Trebuchet MS"/>
                <a:cs typeface="DUUQJP+Trebuchet MS"/>
              </a:rPr>
              <a:t>argumentoval</a:t>
            </a:r>
            <a:r>
              <a:rPr sz="2400" spc="-74" dirty="0">
                <a:solidFill>
                  <a:srgbClr val="0D0D0D"/>
                </a:solidFill>
                <a:latin typeface="DUUQJP+Trebuchet MS"/>
                <a:cs typeface="DUUQJP+Trebuchet MS"/>
              </a:rPr>
              <a:t> </a:t>
            </a:r>
            <a:r>
              <a:rPr sz="24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metaf</a:t>
            </a:r>
            <a:r>
              <a:rPr lang="sk-SK" sz="24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o</a:t>
            </a:r>
            <a:r>
              <a:rPr sz="24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rou</a:t>
            </a:r>
            <a:endParaRPr sz="2400" dirty="0">
              <a:solidFill>
                <a:srgbClr val="0D0D0D"/>
              </a:solidFill>
              <a:latin typeface="PUUJIP+Trebuchet MS"/>
              <a:cs typeface="PUUJIP+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0658" y="6031088"/>
            <a:ext cx="1754783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čínskej</a:t>
            </a:r>
            <a:r>
              <a:rPr sz="2400" spc="-2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izby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2439493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Čínska</a:t>
            </a:r>
            <a:r>
              <a:rPr sz="3600" spc="-54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izba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86933" y="2320097"/>
            <a:ext cx="4634202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m</a:t>
            </a:r>
            <a:r>
              <a:rPr sz="2400" spc="10" dirty="0">
                <a:solidFill>
                  <a:srgbClr val="0D0D0D"/>
                </a:solidFill>
                <a:latin typeface="PUUJIP+Trebuchet MS"/>
                <a:cs typeface="PUUJIP+Trebuchet MS"/>
              </a:rPr>
              <a:t>anuál</a:t>
            </a:r>
            <a:r>
              <a:rPr sz="2400" spc="-4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k</a:t>
            </a:r>
            <a:r>
              <a:rPr sz="2400" spc="1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čínštine</a:t>
            </a:r>
            <a:r>
              <a:rPr sz="2400" spc="-4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v materskom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15533" y="2612419"/>
            <a:ext cx="1040451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jazyku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86933" y="3033710"/>
            <a:ext cx="4864655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n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avonok</a:t>
            </a:r>
            <a:r>
              <a:rPr sz="2400" spc="-4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PUUJIP+Trebuchet MS"/>
                <a:cs typeface="PUUJIP+Trebuchet MS"/>
              </a:rPr>
              <a:t>sa</a:t>
            </a:r>
            <a:r>
              <a:rPr sz="2400" spc="2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javí,</a:t>
            </a:r>
            <a:r>
              <a:rPr sz="2400" spc="-2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PUUJIP+Trebuchet MS"/>
                <a:cs typeface="PUUJIP+Trebuchet MS"/>
              </a:rPr>
              <a:t>že</a:t>
            </a:r>
            <a:r>
              <a:rPr sz="2400" spc="3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človek</a:t>
            </a:r>
            <a:r>
              <a:rPr sz="2400" spc="-1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vnútri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15533" y="3326032"/>
            <a:ext cx="2209839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ovláda</a:t>
            </a:r>
            <a:r>
              <a:rPr sz="2400" spc="-1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čínštinu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86933" y="3744148"/>
            <a:ext cx="5025362" cy="97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m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anipulácia</a:t>
            </a:r>
            <a:r>
              <a:rPr sz="2400" spc="-7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so</a:t>
            </a:r>
            <a:r>
              <a:rPr sz="2400" spc="3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znakmi</a:t>
            </a:r>
            <a:r>
              <a:rPr sz="2400" spc="1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na</a:t>
            </a:r>
            <a:r>
              <a:rPr sz="2400" spc="-2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základe</a:t>
            </a:r>
          </a:p>
          <a:p>
            <a:pPr marL="22860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formálnych</a:t>
            </a:r>
            <a:r>
              <a:rPr sz="2400" spc="-2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pravidiel</a:t>
            </a:r>
            <a:r>
              <a:rPr sz="2400" spc="-4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nikoho</a:t>
            </a:r>
            <a:r>
              <a:rPr sz="2400" spc="-2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po</a:t>
            </a:r>
          </a:p>
          <a:p>
            <a:pPr marL="228600" marR="0">
              <a:lnSpc>
                <a:spcPts val="230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čínsky</a:t>
            </a:r>
            <a:r>
              <a:rPr sz="2400" spc="1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nenaučí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86933" y="4750083"/>
            <a:ext cx="5137215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t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akto</a:t>
            </a:r>
            <a:r>
              <a:rPr sz="2400" spc="-2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pracuje</a:t>
            </a:r>
            <a:r>
              <a:rPr sz="2400" spc="-4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počítačový</a:t>
            </a:r>
            <a:r>
              <a:rPr sz="2400" spc="-6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program,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15533" y="5043231"/>
            <a:ext cx="3255695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ale</a:t>
            </a:r>
            <a:r>
              <a:rPr sz="2400" spc="1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čínštine</a:t>
            </a:r>
            <a:r>
              <a:rPr sz="2400" spc="-4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nerozumie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86933" y="5463569"/>
            <a:ext cx="5022518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DUUQJP+Trebuchet MS"/>
                <a:cs typeface="DUUQJP+Trebuchet MS"/>
              </a:rPr>
              <a:t>n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 pochopenie</a:t>
            </a:r>
            <a:r>
              <a:rPr sz="2400" spc="-7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nestačí</a:t>
            </a:r>
            <a:r>
              <a:rPr sz="2400" spc="-2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syntax, ale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15533" y="5756768"/>
            <a:ext cx="4281889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aj</a:t>
            </a:r>
            <a:r>
              <a:rPr sz="2400" spc="-2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sémantika</a:t>
            </a:r>
            <a:r>
              <a:rPr sz="2400" spc="-2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(počítaču</a:t>
            </a:r>
            <a:r>
              <a:rPr sz="2400" spc="-7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chýba)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742693"/>
            <a:ext cx="3329109" cy="59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97"/>
              </a:lnSpc>
              <a:spcBef>
                <a:spcPts val="0"/>
              </a:spcBef>
              <a:spcAft>
                <a:spcPts val="0"/>
              </a:spcAft>
            </a:pPr>
            <a:r>
              <a:rPr sz="3600" spc="-10" dirty="0">
                <a:solidFill>
                  <a:srgbClr val="FFFFFF"/>
                </a:solidFill>
                <a:latin typeface="DUUQJP+Trebuchet MS"/>
                <a:cs typeface="DUUQJP+Trebuchet MS"/>
              </a:rPr>
              <a:t>Mozog</a:t>
            </a:r>
            <a:r>
              <a:rPr sz="3600" spc="74" dirty="0">
                <a:solidFill>
                  <a:srgbClr val="FFFFFF"/>
                </a:solidFill>
                <a:latin typeface="DUUQJP+Trebuchet MS"/>
                <a:cs typeface="DUUQJP+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KNGTWS+Calibri"/>
                <a:cs typeface="KNGTWS+Calibri"/>
              </a:rPr>
              <a:t>≠</a:t>
            </a:r>
            <a:r>
              <a:rPr sz="3600" spc="-15" dirty="0">
                <a:solidFill>
                  <a:srgbClr val="FFFFFF"/>
                </a:solidFill>
                <a:latin typeface="KNGTWS+Calibri"/>
                <a:cs typeface="KNGTWS+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KNGTWS+Calibri"/>
                <a:cs typeface="KNGTWS+Calibri"/>
              </a:rPr>
              <a:t>hardvér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058" y="2356673"/>
            <a:ext cx="8333965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DUUQJP+Trebuchet MS"/>
                <a:cs typeface="DUUQJP+Trebuchet MS"/>
              </a:rPr>
              <a:t>k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ognitívne</a:t>
            </a:r>
            <a:r>
              <a:rPr sz="2400" spc="-4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schopnosti</a:t>
            </a:r>
            <a:r>
              <a:rPr sz="2400" spc="-2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zvierat</a:t>
            </a:r>
            <a:r>
              <a:rPr sz="2400" spc="-24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 ľudí</a:t>
            </a:r>
            <a:r>
              <a:rPr sz="2400" spc="1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nevznikajú</a:t>
            </a:r>
            <a:r>
              <a:rPr sz="2400" spc="-3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na základe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0658" y="2685571"/>
            <a:ext cx="4776083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programu,</a:t>
            </a:r>
            <a:r>
              <a:rPr sz="2400" spc="-1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ktorý beží v organizme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2058" y="3143438"/>
            <a:ext cx="9434687" cy="3920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DUUQJP+Trebuchet MS"/>
                <a:cs typeface="DUUQJP+Trebuchet MS"/>
              </a:rPr>
              <a:t>z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ákladom fungovania</a:t>
            </a:r>
            <a:r>
              <a:rPr sz="2400" spc="-4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je</a:t>
            </a:r>
            <a:r>
              <a:rPr sz="2400" spc="-1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komplexná fyzikálna</a:t>
            </a:r>
            <a:r>
              <a:rPr sz="2400" spc="3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organizácia</a:t>
            </a:r>
            <a:r>
              <a:rPr sz="2400" spc="-71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nervovej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0658" y="3472336"/>
            <a:ext cx="1147268" cy="392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sústavy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2058" y="3913866"/>
            <a:ext cx="9044377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spc="-13" dirty="0">
                <a:solidFill>
                  <a:srgbClr val="0D0D0D"/>
                </a:solidFill>
                <a:latin typeface="KNGTWS+Calibri"/>
                <a:cs typeface="KNGTWS+Calibri"/>
              </a:rPr>
              <a:t>mozog</a:t>
            </a:r>
            <a:r>
              <a:rPr sz="2400" spc="-44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sa neustále</a:t>
            </a:r>
            <a:r>
              <a:rPr sz="2400" spc="-55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mení,</a:t>
            </a:r>
            <a:r>
              <a:rPr sz="2400" spc="-1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spc="-20" dirty="0">
                <a:solidFill>
                  <a:srgbClr val="0D0D0D"/>
                </a:solidFill>
                <a:latin typeface="KNGTWS+Calibri"/>
                <a:cs typeface="KNGTWS+Calibri"/>
              </a:rPr>
              <a:t>chemicky,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 atď.,</a:t>
            </a:r>
            <a:r>
              <a:rPr sz="2400" spc="-10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nie</a:t>
            </a:r>
            <a:r>
              <a:rPr sz="2400" spc="-14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je pasívny</a:t>
            </a:r>
            <a:r>
              <a:rPr sz="2400" spc="-16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nosič</a:t>
            </a:r>
            <a:r>
              <a:rPr sz="2400" spc="-19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fyzikálno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-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0658" y="4242760"/>
            <a:ext cx="7092790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chemických síl,</a:t>
            </a:r>
            <a:r>
              <a:rPr sz="2400" spc="-1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KNGTWS+Calibri"/>
                <a:cs typeface="KNGTWS+Calibri"/>
              </a:rPr>
              <a:t>tkanivá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 sú</a:t>
            </a:r>
            <a:r>
              <a:rPr sz="2400" spc="-10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spc="-15" dirty="0">
                <a:solidFill>
                  <a:srgbClr val="0D0D0D"/>
                </a:solidFill>
                <a:latin typeface="KNGTWS+Calibri"/>
                <a:cs typeface="KNGTWS+Calibri"/>
              </a:rPr>
              <a:t>organické,</a:t>
            </a:r>
            <a:r>
              <a:rPr sz="2400" spc="-19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aktívne a</a:t>
            </a:r>
            <a:r>
              <a:rPr sz="2400" spc="-13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špecifické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72058" y="4700340"/>
            <a:ext cx="8224257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LDMVBA+Calibri"/>
                <a:cs typeface="LDMVBA+Calibri"/>
              </a:rPr>
              <a:t>m</a:t>
            </a:r>
            <a:r>
              <a:rPr sz="2400" spc="-18" dirty="0">
                <a:solidFill>
                  <a:srgbClr val="0D0D0D"/>
                </a:solidFill>
                <a:latin typeface="KNGTWS+Calibri"/>
                <a:cs typeface="KNGTWS+Calibri"/>
              </a:rPr>
              <a:t>ozog</a:t>
            </a:r>
            <a:r>
              <a:rPr sz="2400" spc="-40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oproti</a:t>
            </a:r>
            <a:r>
              <a:rPr sz="2400" spc="-34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počítaču</a:t>
            </a:r>
            <a:r>
              <a:rPr sz="2400" spc="-35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vie</a:t>
            </a:r>
            <a:r>
              <a:rPr sz="2400" spc="-16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predvídať</a:t>
            </a:r>
            <a:r>
              <a:rPr sz="2400" spc="-2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a</a:t>
            </a:r>
            <a:r>
              <a:rPr sz="2400" spc="-13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plánovať</a:t>
            </a:r>
            <a:r>
              <a:rPr sz="2400" spc="-50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budúce</a:t>
            </a:r>
            <a:r>
              <a:rPr sz="2400" spc="-3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konanie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72058" y="5155037"/>
            <a:ext cx="9316331" cy="410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BCLMDO+Arial"/>
                <a:cs typeface="BCLMDO+Arial"/>
              </a:rPr>
              <a:t>•</a:t>
            </a:r>
            <a:r>
              <a:rPr sz="2400" spc="3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rozhodovanie,</a:t>
            </a:r>
            <a:r>
              <a:rPr sz="2400" spc="-51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riešenie</a:t>
            </a:r>
            <a:r>
              <a:rPr sz="2400" spc="-12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problémov</a:t>
            </a:r>
            <a:r>
              <a:rPr sz="2400" spc="-5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a predpovedanie</a:t>
            </a:r>
            <a:r>
              <a:rPr sz="2400" spc="-56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spc="-13" dirty="0">
                <a:solidFill>
                  <a:srgbClr val="0D0D0D"/>
                </a:solidFill>
                <a:latin typeface="KNGTWS+Calibri"/>
                <a:cs typeface="KNGTWS+Calibri"/>
              </a:rPr>
              <a:t>možných</a:t>
            </a:r>
            <a:r>
              <a:rPr sz="2400" spc="-41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udalostí</a:t>
            </a:r>
            <a:r>
              <a:rPr sz="2400" spc="-38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sú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0658" y="5486978"/>
            <a:ext cx="3913933" cy="410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nástrojom</a:t>
            </a:r>
            <a:r>
              <a:rPr sz="2400" spc="-49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prežitia</a:t>
            </a:r>
            <a:r>
              <a:rPr sz="2400" spc="-36" dirty="0">
                <a:solidFill>
                  <a:srgbClr val="0D0D0D"/>
                </a:solidFill>
                <a:latin typeface="KNGTWS+Calibri"/>
                <a:cs typeface="KNGTWS+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KNGTWS+Calibri"/>
                <a:cs typeface="KNGTWS+Calibri"/>
              </a:rPr>
              <a:t>organizmov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8" y="1008472"/>
            <a:ext cx="1295707" cy="568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Záver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2058" y="2356673"/>
            <a:ext cx="8987077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1" dirty="0">
                <a:solidFill>
                  <a:srgbClr val="0D0D0D"/>
                </a:solidFill>
                <a:latin typeface="PUUJIP+Trebuchet MS"/>
                <a:cs typeface="PUUJIP+Trebuchet MS"/>
              </a:rPr>
              <a:t>1.</a:t>
            </a:r>
            <a:r>
              <a:rPr sz="2400" spc="3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Počítače</a:t>
            </a:r>
            <a:r>
              <a:rPr sz="2400" spc="-5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spc="-11" dirty="0">
                <a:solidFill>
                  <a:srgbClr val="0D0D0D"/>
                </a:solidFill>
                <a:latin typeface="PUUJIP+Trebuchet MS"/>
                <a:cs typeface="PUUJIP+Trebuchet MS"/>
              </a:rPr>
              <a:t>sú</a:t>
            </a:r>
            <a:r>
              <a:rPr sz="2400" spc="3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užitočné</a:t>
            </a:r>
            <a:r>
              <a:rPr sz="2400" spc="-4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pri</a:t>
            </a:r>
            <a:r>
              <a:rPr sz="2400" spc="-1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štúdiu mysle</a:t>
            </a:r>
            <a:r>
              <a:rPr sz="2400" spc="3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(simulujú</a:t>
            </a:r>
            <a:r>
              <a:rPr sz="2400" spc="1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určité</a:t>
            </a:r>
            <a:r>
              <a:rPr sz="2400" spc="-49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aspekty</a:t>
            </a:r>
          </a:p>
          <a:p>
            <a:pPr marL="0" marR="0">
              <a:lnSpc>
                <a:spcPts val="259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psychických procesov</a:t>
            </a:r>
            <a:r>
              <a:rPr sz="2400" spc="-23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 err="1">
                <a:solidFill>
                  <a:srgbClr val="0D0D0D"/>
                </a:solidFill>
                <a:latin typeface="PUUJIP+Trebuchet MS"/>
                <a:cs typeface="PUUJIP+Trebuchet MS"/>
              </a:rPr>
              <a:t>človeka</a:t>
            </a:r>
            <a:r>
              <a:rPr sz="24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)</a:t>
            </a:r>
            <a:endParaRPr sz="2400" dirty="0">
              <a:solidFill>
                <a:srgbClr val="0D0D0D"/>
              </a:solidFill>
              <a:latin typeface="PUUJIP+Trebuchet MS"/>
              <a:cs typeface="PUUJIP+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058" y="3597844"/>
            <a:ext cx="8854564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6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1" dirty="0">
                <a:solidFill>
                  <a:srgbClr val="0D0D0D"/>
                </a:solidFill>
                <a:latin typeface="PUUJIP+Trebuchet MS"/>
                <a:cs typeface="PUUJIP+Trebuchet MS"/>
              </a:rPr>
              <a:t>2.</a:t>
            </a:r>
            <a:r>
              <a:rPr sz="2400" spc="3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Počítače</a:t>
            </a:r>
            <a:r>
              <a:rPr sz="2400" spc="-57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nedisponujú</a:t>
            </a:r>
            <a:r>
              <a:rPr sz="2400" spc="-4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mysľou,</a:t>
            </a:r>
            <a:r>
              <a:rPr sz="2400" spc="28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nemajú</a:t>
            </a:r>
            <a:r>
              <a:rPr sz="2400" spc="-42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kognitívne</a:t>
            </a:r>
            <a:r>
              <a:rPr sz="2400" spc="-4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a psychické</a:t>
            </a:r>
          </a:p>
          <a:p>
            <a:pPr marL="0" marR="0">
              <a:lnSpc>
                <a:spcPts val="2591"/>
              </a:lnSpc>
              <a:spcBef>
                <a:spcPts val="0"/>
              </a:spcBef>
              <a:spcAft>
                <a:spcPts val="0"/>
              </a:spcAft>
            </a:pPr>
            <a:r>
              <a:rPr sz="2400" spc="-49" dirty="0" err="1" smtClean="0">
                <a:solidFill>
                  <a:srgbClr val="0D0D0D"/>
                </a:solidFill>
                <a:latin typeface="DUUQJP+Trebuchet MS"/>
                <a:cs typeface="DUUQJP+Trebuchet MS"/>
              </a:rPr>
              <a:t>stavy</a:t>
            </a:r>
            <a:endParaRPr sz="2400" spc="-49" dirty="0">
              <a:solidFill>
                <a:srgbClr val="0D0D0D"/>
              </a:solidFill>
              <a:latin typeface="DUUQJP+Trebuchet MS"/>
              <a:cs typeface="DUUQJP+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2058" y="4841523"/>
            <a:ext cx="596165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9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2" dirty="0">
                <a:solidFill>
                  <a:srgbClr val="0D0D0D"/>
                </a:solidFill>
                <a:latin typeface="PUUJIP+Trebuchet MS"/>
                <a:cs typeface="PUUJIP+Trebuchet MS"/>
              </a:rPr>
              <a:t>3.</a:t>
            </a:r>
            <a:r>
              <a:rPr sz="2400" spc="36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lang="sk-SK" sz="24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Myseľ</a:t>
            </a:r>
            <a:r>
              <a:rPr sz="2400" spc="35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 err="1">
                <a:solidFill>
                  <a:srgbClr val="0D0D0D"/>
                </a:solidFill>
                <a:latin typeface="PUUJIP+Trebuchet MS"/>
                <a:cs typeface="PUUJIP+Trebuchet MS"/>
              </a:rPr>
              <a:t>nie</a:t>
            </a:r>
            <a:r>
              <a:rPr sz="2400" dirty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lang="sk-SK" sz="24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je</a:t>
            </a:r>
            <a:r>
              <a:rPr sz="2400" spc="21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dirty="0" err="1" smtClean="0">
                <a:solidFill>
                  <a:srgbClr val="0D0D0D"/>
                </a:solidFill>
                <a:latin typeface="PUUJIP+Trebuchet MS"/>
                <a:cs typeface="PUUJIP+Trebuchet MS"/>
              </a:rPr>
              <a:t>počítačov</a:t>
            </a:r>
            <a:r>
              <a:rPr lang="sk-SK" sz="240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ý</a:t>
            </a:r>
            <a:r>
              <a:rPr sz="2400" spc="-69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 </a:t>
            </a:r>
            <a:r>
              <a:rPr sz="2400" spc="-30" dirty="0" smtClean="0">
                <a:solidFill>
                  <a:srgbClr val="0D0D0D"/>
                </a:solidFill>
                <a:latin typeface="PUUJIP+Trebuchet MS"/>
                <a:cs typeface="PUUJIP+Trebuchet MS"/>
              </a:rPr>
              <a:t>program</a:t>
            </a:r>
            <a:endParaRPr sz="2400" spc="-30" dirty="0">
              <a:solidFill>
                <a:srgbClr val="0D0D0D"/>
              </a:solidFill>
              <a:latin typeface="PUUJIP+Trebuchet MS"/>
              <a:cs typeface="PUUJIP+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368" y="3713540"/>
            <a:ext cx="11017224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2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Ďakujem</a:t>
            </a:r>
            <a:r>
              <a:rPr sz="3600" spc="-19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PUUJIP+Trebuchet MS"/>
                <a:cs typeface="PUUJIP+Trebuchet MS"/>
              </a:rPr>
              <a:t>za</a:t>
            </a:r>
            <a:r>
              <a:rPr sz="3600" dirty="0">
                <a:solidFill>
                  <a:srgbClr val="FFFFFF"/>
                </a:solidFill>
                <a:latin typeface="PUUJIP+Trebuchet MS"/>
                <a:cs typeface="PUUJIP+Trebuchet MS"/>
              </a:rPr>
              <a:t> </a:t>
            </a:r>
            <a:r>
              <a:rPr sz="3600" dirty="0" err="1" smtClean="0">
                <a:solidFill>
                  <a:srgbClr val="FFFFFF"/>
                </a:solidFill>
                <a:latin typeface="PUUJIP+Trebuchet MS"/>
                <a:cs typeface="PUUJIP+Trebuchet MS"/>
              </a:rPr>
              <a:t>pozornosť</a:t>
            </a:r>
            <a:r>
              <a:rPr lang="sk-SK" sz="3600" dirty="0" smtClean="0">
                <a:solidFill>
                  <a:srgbClr val="FFFFFF"/>
                </a:solidFill>
                <a:latin typeface="PUUJIP+Trebuchet MS"/>
                <a:cs typeface="PUUJIP+Trebuchet MS"/>
              </a:rPr>
              <a:t> a želám pekný zvyšok dňa </a:t>
            </a:r>
            <a:r>
              <a:rPr lang="sk-SK" sz="3600" dirty="0" smtClean="0">
                <a:solidFill>
                  <a:srgbClr val="FFFFFF"/>
                </a:solidFill>
                <a:latin typeface="PUUJIP+Trebuchet MS"/>
                <a:cs typeface="PUUJIP+Trebuchet MS"/>
                <a:sym typeface="Wingdings" panose="05000000000000000000" pitchFamily="2" charset="2"/>
              </a:rPr>
              <a:t></a:t>
            </a:r>
            <a:endParaRPr sz="3600" dirty="0">
              <a:solidFill>
                <a:srgbClr val="FFFFFF"/>
              </a:solidFill>
              <a:latin typeface="PUUJIP+Trebuchet MS"/>
              <a:cs typeface="PUUJIP+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1392</TotalTime>
  <Words>579</Words>
  <Application>Microsoft Office PowerPoint</Application>
  <PresentationFormat>Širokouhlá</PresentationFormat>
  <Paragraphs>122</Paragraphs>
  <Slides>14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10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14</vt:i4>
      </vt:variant>
    </vt:vector>
  </HeadingPairs>
  <TitlesOfParts>
    <vt:vector size="25" baseType="lpstr">
      <vt:lpstr>Calibri</vt:lpstr>
      <vt:lpstr>Wingdings</vt:lpstr>
      <vt:lpstr>TWQWTP+Wingdings</vt:lpstr>
      <vt:lpstr>BCLMDO+Arial</vt:lpstr>
      <vt:lpstr>LDMVBA+Calibri</vt:lpstr>
      <vt:lpstr>DUUQJP+Trebuchet MS</vt:lpstr>
      <vt:lpstr>FKFMBO+Trebuchet MS Bold</vt:lpstr>
      <vt:lpstr>Times New Roman</vt:lpstr>
      <vt:lpstr>KNGTWS+Calibri</vt:lpstr>
      <vt:lpstr>PUUJIP+Trebuchet MS</vt:lpstr>
      <vt:lpstr>Theme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user ucebne</cp:lastModifiedBy>
  <cp:revision>13</cp:revision>
  <dcterms:modified xsi:type="dcterms:W3CDTF">2025-11-27T09:41:17Z</dcterms:modified>
</cp:coreProperties>
</file>